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15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7C4D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4A2FA8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788920" cy="347472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ПРОМЕЖУТОЧНАЯ ВЕРСИЯ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75104"/>
            <a:ext cx="7498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Launch</a:t>
            </a:r>
            <a:endParaRPr lang="en-US" sz="5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767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подготовки и запуска проектов в MWS Tables: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данных, дубли, связи, задачи и исполнители — с preview и подтверждением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01368" y="477316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подготовки заявок к запуску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1755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517550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Тимофей Махель · Алина Крылова · Глеб Панин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577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801368" y="55778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сентября 2026 · финальная защита 7 сентября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заявки к запуску проекта — ручная, разрозненная и дорогая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68096" y="160934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8600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или изменяемых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в месяц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481328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584448" y="160934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мин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28600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подготовки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 заявки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481328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0" y="160934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ч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8600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работы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месяц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15984" y="1481328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17152" y="1609344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млн ₽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228600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прямых затрат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год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2186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сейчас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584448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приходят через формы, импорт файлов и ручной ввод — структура и качество источников различаются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проектного офиса вручную правит значения, ищет дубли, связывает записи со справочниками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определяет тип и приоритет, проверяет бюджет и сроки, создаёт задачи и назначает исполнителей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321868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Из-за чего ломается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27064" y="3584448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форматы дат и телефонов, лишние пробелы, регистр, варианты «е/ё», кириллица и латиница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Неполные и подозрительные значения порождают дубли и ошибочные связи между таблицами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Страдают поиск, аналитика и вся дальнейшая работа с проектом; потери от задержек в 4 млн ₽ не учтены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РФ у нас один прямой конкурент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828800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 в России не работает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017520"/>
            <a:ext cx="2990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Блокировка аккаунтов с 19 февраля 2026, оплата картами РФ закрыта с 2022. Реестр ПО и 152-ФЗ обязательны для крупного бизнеса и госсектора.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99432" y="1828800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Weeek, Kaiten, Яндекс 360 — </a:t>
            </a: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другой фокус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3017520"/>
            <a:ext cx="2990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Таск-трекеры и офисный пакет, а не конструкторы связанных таблиц. Нет двусторонних связей между записями.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1554480"/>
            <a:ext cx="3538728" cy="3566160"/>
          </a:xfrm>
          <a:prstGeom prst="roundRect">
            <a:avLst>
              <a:gd name="adj" fmla="val 232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57616" y="1828800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Бипиум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главный конкурент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57616" y="3017520"/>
            <a:ext cx="2990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тяжёлый на больших объёмах, формулы только внутри строки, API — 100 запросов за 30 секунд </a:t>
            </a:r>
            <a:r>
              <a:rPr lang="en-US" sz="1300" dirty="0" err="1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</a:t>
            </a: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платное обучение</a:t>
            </a:r>
            <a:r>
              <a:rPr lang="en-US" sz="13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сценарная гипотеза, не прогноз и не утверждённая цена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Единица оплаты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Успешно завершённая и принятая пользователем подготовка уникальной версии заявки — не запуск виджета, не токен и не задача.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Preview, retry и повтор того же результата не создают нового списания.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517904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81144" y="173736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упаковки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121408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Платный модуль на команду с общим пулом подготовок и прозрачной доплатой за превышение — вместо новых базовых тарифов.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320040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Ориентиры рынка: Airtable AI (пул кредитов), Asana AI Studio (расширение поверх продукта).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1517904"/>
            <a:ext cx="3538728" cy="2743200"/>
          </a:xfrm>
          <a:prstGeom prst="roundRect">
            <a:avLst>
              <a:gd name="adj" fmla="val 3000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39328" y="173736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неопределённость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121408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стоимость токенов, а платёжеспособный спрос, поддержка и достаточное число покупателей.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320040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за ~3 000 ₽/мес. — это +156% к наблюдаемому пакету на 4 места, то есть отдельная покупка.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443984"/>
            <a:ext cx="11055096" cy="1481328"/>
          </a:xfrm>
          <a:prstGeom prst="roundRect">
            <a:avLst>
              <a:gd name="adj" fmla="val 555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1248" y="4608576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продажи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937760"/>
            <a:ext cx="105064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Продаём сквозную подготовку заявки с контролем изменений, а не «доступ к LLM».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Дорогая обработка неоднозначных случаев включается отдельно, по явному действию пользователя — это же требование заложено в архитектуру решения.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Внутренних коммерческих данных MWS у команды нет: цифры выше — сценарии из открытых источников и наблюдаемого тарифа.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 и критерии успеха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именно мы делаем и по чему будем измерять результат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074920" cy="4480560"/>
          </a:xfrm>
          <a:prstGeom prst="roundRect">
            <a:avLst>
              <a:gd name="adj" fmla="val 183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70078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48256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Превратить пользовательский импорт в рабочее пространство.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5292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требования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00400"/>
            <a:ext cx="45262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Widget Script внутри MWS Tables, без жёсткой привязки к ID таблиц и полей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рекомендация объяснима: было → станет, причина, уверенность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и подтверждение до любых массовых изменений; исходные записи не удаляются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очистка, matching и создание задач работают без LLM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запуск идемпотентен: 0 дублей задач и связей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16168" y="1481328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метрики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16168" y="188366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135624" y="195681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799832" y="195681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 готовы к запуску после одного прохода без ручной правки ячеек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16168" y="270662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135624" y="27797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мин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799832" y="277977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медианное время подготовки заявки вместо модельных 50 минут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16168" y="352958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135624" y="36027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360273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предложений по дублям и сопоставлению справочников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16168" y="435254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35624" y="442569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7799832" y="442569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обнаружение заложенных дублей и ошибок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16168" y="5175504"/>
            <a:ext cx="5705856" cy="694944"/>
          </a:xfrm>
          <a:prstGeom prst="roundRect">
            <a:avLst>
              <a:gd name="adj" fmla="val 11842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135624" y="52486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/ 0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799832" y="5248656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массовых изменений с preview / повторных связей и задач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пороги. Фактические значения будут измерены после реализации.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Выбранный подход: двухэтапная валидация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77393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7922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источника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4086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после импорта: ошибки, подозрительные значения и возможные дубли внутри одного источника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62856" y="177393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62856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11496" y="17922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Объяснимые рекомендации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34086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список: было → станет, причина и уровень уверенности. Неоднозначное остаётся человеку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55448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177393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2104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7922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и подтверждение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4086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принимает или отклоняет отдельные действия. Только после этого данные меняются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74904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4672" y="396849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04672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3986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и справочники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53542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Создаются только подтверждённые связи; оператор донастраивает Magic Link между источниками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74904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62856" y="396849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562856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11496" y="3986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Межтабличная проверка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62856" y="453542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валидация уже связанного набора: блокирующие ошибки возвращаются оператору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83296" y="3749040"/>
            <a:ext cx="3538728" cy="1975104"/>
          </a:xfrm>
          <a:prstGeom prst="roundRect">
            <a:avLst>
              <a:gd name="adj" fmla="val 416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21040" y="3968496"/>
            <a:ext cx="420624" cy="420624"/>
          </a:xfrm>
          <a:prstGeom prst="ellipse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32104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3986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Доверенное представление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535424"/>
            <a:ext cx="3063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проекта, задачи, рекомендации исполнителей и итоговая сводка запуска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85216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подтверждает каждое неоднозначное решение вручную.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решения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2573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257300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записей</a:t>
            </a:r>
            <a:endParaRPr lang="en-US" sz="10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справочников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984248" y="1257300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48840" y="12573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21992" y="1257300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</a:t>
            </a:r>
            <a:endParaRPr lang="en-US" sz="10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проверки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257300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30752" y="12573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803904" y="1257300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</a:t>
            </a:r>
            <a:endParaRPr lang="en-US" sz="10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matching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1257300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12664" y="12573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385816" y="1257300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</a:t>
            </a:r>
            <a:endParaRPr lang="en-US" sz="10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рекомендаций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729984" y="1257300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94576" y="12573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7C4DFF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967728" y="1257300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10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пользователя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1257300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76488" y="12573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549640" y="1257300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изменений</a:t>
            </a:r>
            <a:endParaRPr lang="en-US" sz="10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связей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893808" y="1257300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0" y="12573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131552" y="1257300"/>
            <a:ext cx="12710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0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отчёт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5146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Фиолетовый блок — обязательное подтверждение человеком: до него данные не меняются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3017520"/>
            <a:ext cx="3538728" cy="2889504"/>
          </a:xfrm>
          <a:prstGeom prst="roundRect">
            <a:avLst>
              <a:gd name="adj" fmla="val 2848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04672" y="32004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Детерминированное ядро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3547872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email, телефонов, дат, регистра, «е/ё», городов, компаний и ФИО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Каскадный matching: точные ключи → сравнение по нескольким полям → неоднозначное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 задач хранятся в таблице, а не в коде виджета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25112" y="3017520"/>
            <a:ext cx="3538728" cy="2889504"/>
          </a:xfrm>
          <a:prstGeom prst="roundRect">
            <a:avLst>
              <a:gd name="adj" fmla="val 2848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562856" y="32004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AI-слой (опционально)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62856" y="3547872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реализации: классификация заявки и LLM-проверка неоднозначных соответствий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резерве: поиск аномалий и оптимизация распределения задач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вызывается только в спорных случаях — базовый сценарий работает без него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83296" y="3017520"/>
            <a:ext cx="3538728" cy="2889504"/>
          </a:xfrm>
          <a:prstGeom prst="roundRect">
            <a:avLst>
              <a:gd name="adj" fmla="val 2848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321040" y="32004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3547872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Исходные записи не удаляются; повторный запуск не создаёт дубли задач и связей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Endpoint, модель и токен — в конфигурации, секретов в коде нет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уходят наружу только после явного действия пользователя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реализация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независимых трека разработки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193852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7C4D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59536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517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с продвинутой реализацией фичей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931920"/>
            <a:ext cx="4809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сценарий проверки заявки — от импорта до задач и исполнителей — уже работает как самостоятельное демо-приложение.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7064" y="16459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19672" y="193852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7C4D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19672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Script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6517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для встройки в MWS Tables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931920"/>
            <a:ext cx="4809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логика в формате, который встраивается в текущий функционал заказчика — без сборщика и внешних зависимостей.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 в MWS Tables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и нормализация выполняются прямо в панели виджета</a:t>
            </a:r>
            <a:endParaRPr lang="en-US" sz="1400" dirty="0"/>
          </a:p>
        </p:txBody>
      </p:sp>
      <p:pic>
        <p:nvPicPr>
          <p:cNvPr id="4" name="Image 0" descr="/Users/gleb/Desktop/my_vs/AIProductHack2026/research/outputs/interim-presentation-2026-09-04/assets/widget-import.png"/>
          <p:cNvPicPr>
            <a:picLocks noChangeAspect="1"/>
          </p:cNvPicPr>
          <p:nvPr/>
        </p:nvPicPr>
        <p:blipFill>
          <a:blip r:embed="rId3"/>
          <a:srcRect l="56463"/>
          <a:stretch/>
        </p:blipFill>
        <p:spPr>
          <a:xfrm>
            <a:off x="566928" y="1508760"/>
            <a:ext cx="4934555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84363" y="1508760"/>
            <a:ext cx="5937661" cy="4846320"/>
          </a:xfrm>
          <a:prstGeom prst="roundRect">
            <a:avLst>
              <a:gd name="adj" fmla="val 1698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096000" y="1819656"/>
            <a:ext cx="5233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выполняется прямо в панели виджета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882326" y="2880360"/>
            <a:ext cx="5447090" cy="1880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делится на партиции по 100 записей — 84 партиции, 8 359 строк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обработки виден построчно, в реальном времени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завершении — статус «Готово», прямо в MWS Tables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 в MWS Tables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и подтверждение — до этого момента данные не меняются</a:t>
            </a:r>
            <a:endParaRPr lang="en-US" sz="1400" dirty="0"/>
          </a:p>
        </p:txBody>
      </p:sp>
      <p:pic>
        <p:nvPicPr>
          <p:cNvPr id="4" name="Image 0" descr="/Users/gleb/Desktop/my_vs/AIProductHack2026/research/outputs/interim-presentation-2026-09-04/assets/widget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08760"/>
            <a:ext cx="5346192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0" y="1508760"/>
            <a:ext cx="5526024" cy="4846320"/>
          </a:xfrm>
          <a:prstGeom prst="roundRect">
            <a:avLst>
              <a:gd name="adj" fmla="val 1698"/>
            </a:avLst>
          </a:prstGeom>
          <a:solidFill>
            <a:srgbClr val="2C2159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321614" y="1893360"/>
            <a:ext cx="6121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правка — «было → стало»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321614" y="2830620"/>
            <a:ext cx="5483290" cy="19739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24 386 исправлений найдено в одном источнике: «ё/е», лишние пробелы, служебные символы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применяется, пока оператор не введёт подтверждение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же проверяются дубли и связи между таблицами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Выполненные этапы и первые результаты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Продуктовый и исследовательский контур закрыт, реализация виджета стартует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18470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Зафиксированы baseline требований и постановка задачи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59736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24140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Описаны пользователь, проблема, целевой сценарий и продуктовые метрики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026664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66928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298094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Двухэтапный сценарий проверки согласован с заказчиком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593592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66928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54787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Разобраны смежные продукты и подходы к похожим функциям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66928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411480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сценарная модель unit-экономики в Excel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727448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66928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" y="468172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Профилирована dev-выборка, изучены представления, таблицы и связи MWS Tables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294376"/>
            <a:ext cx="256032" cy="256032"/>
          </a:xfrm>
          <a:prstGeom prst="ellipse">
            <a:avLst/>
          </a:prstGeom>
          <a:solidFill>
            <a:srgbClr val="2ED9A8">
              <a:alpha val="22000"/>
            </a:srgbClr>
          </a:solidFill>
          <a:ln w="9525">
            <a:solidFill>
              <a:srgbClr val="2ED9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66928" y="5294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" y="52486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Начата проработка алгоритмов и guardrails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27064" y="14630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результаты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227064" y="1847088"/>
            <a:ext cx="5394960" cy="1938528"/>
          </a:xfrm>
          <a:prstGeom prst="roundRect">
            <a:avLst>
              <a:gd name="adj" fmla="val 4245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464808" y="2048256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dev-выборки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2487168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6464808" y="2743200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записей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104632" y="2487168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104632" y="2743200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столбца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744456" y="2487168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6 800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9744456" y="2743200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заявок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64808" y="3090672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1 400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3346704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компаний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104632" y="3090672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8104632" y="3346704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сотрудников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744456" y="3090672"/>
            <a:ext cx="163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1 560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9744456" y="3346704"/>
            <a:ext cx="163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9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и шаблонов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27064" y="3968496"/>
            <a:ext cx="5394960" cy="1956816"/>
          </a:xfrm>
          <a:prstGeom prst="roundRect">
            <a:avLst>
              <a:gd name="adj" fmla="val 4206"/>
            </a:avLst>
          </a:prstGeom>
          <a:solidFill>
            <a:srgbClr val="231A47"/>
          </a:solidFill>
          <a:ln w="9525">
            <a:solidFill>
              <a:srgbClr val="372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464808" y="41696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на модели экономики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6464808" y="4517136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сценария выручки и затрат, трудозатраты, BYOK, возврат затрат на запуск и граничные условия — с явными допущениями вместо внутренних данных MWS.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6355080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Hack 2026 · Project Launch Copilot for MWS Tables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1073384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1297</Words>
  <Application>Microsoft Macintosh PowerPoint</Application>
  <PresentationFormat>Widescreen</PresentationFormat>
  <Paragraphs>215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Project Launch Copilot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Launch Copilot — промежуточный статус</dc:title>
  <dc:subject>Промежуточная презентация проекта</dc:subject>
  <dc:creator>Project Launch Copilot team</dc:creator>
  <cp:lastModifiedBy>Gleb Panin</cp:lastModifiedBy>
  <cp:revision>4</cp:revision>
  <dcterms:created xsi:type="dcterms:W3CDTF">2026-09-06T19:10:42Z</dcterms:created>
  <dcterms:modified xsi:type="dcterms:W3CDTF">2026-09-06T19:48:17Z</dcterms:modified>
</cp:coreProperties>
</file>