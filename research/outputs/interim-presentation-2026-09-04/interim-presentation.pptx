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7C4DFF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291840"/>
            <a:ext cx="4023360" cy="4023360"/>
          </a:xfrm>
          <a:prstGeom prst="ellipse">
            <a:avLst/>
          </a:prstGeom>
          <a:solidFill>
            <a:srgbClr val="4A2FA8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481328"/>
            <a:ext cx="2788920" cy="347472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81328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ПРОМЕЖУТОЧНАЯ ВЕРСИЯ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75104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Launch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7673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подготовки и запуска проектов в MWS Tables: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данных, дубли, связи, задачи и исполнители — с preview и подтверждением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731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801368" y="477316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подготовки заявок к запуску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17550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01368" y="5175504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Тимофей Махель · Алина Крылова · Глеб Панин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5778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801368" y="55778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сентября 2026 · финальная защита 7 сентября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заявки к запуску проекта — ручная, разрозненная и дорогая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606040" cy="1481328"/>
          </a:xfrm>
          <a:prstGeom prst="roundRect">
            <a:avLst>
              <a:gd name="adj" fmla="val 555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9344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286000"/>
            <a:ext cx="2203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или изменяемых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заявок в месяц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81328"/>
            <a:ext cx="2606040" cy="1481328"/>
          </a:xfrm>
          <a:prstGeom prst="roundRect">
            <a:avLst>
              <a:gd name="adj" fmla="val 555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609344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мин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286000"/>
            <a:ext cx="2203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подготовки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одной заявки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481328"/>
            <a:ext cx="2606040" cy="1481328"/>
          </a:xfrm>
          <a:prstGeom prst="roundRect">
            <a:avLst>
              <a:gd name="adj" fmla="val 555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609344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 ч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286000"/>
            <a:ext cx="2203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работы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месяц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15984" y="1481328"/>
            <a:ext cx="2606040" cy="1481328"/>
          </a:xfrm>
          <a:prstGeom prst="roundRect">
            <a:avLst>
              <a:gd name="adj" fmla="val 555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17152" y="1609344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млн ₽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2286000"/>
            <a:ext cx="2203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прямых затрат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год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21868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 сейчас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584448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приходят через формы, импорт файлов и ручной ввод — структура и качество источников различаются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проектного офиса вручную правит значения, ищет дубли, связывает записи со справочниками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Затем определяет тип и приоритет, проверяет бюджет и сроки, создаёт задачи и назначает исполнителей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27064" y="321868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 ломается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227064" y="3584448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Разные форматы дат и телефонов, лишние пробелы, регистр, варианты «е/ё», кириллица и латиница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Неполные и подозрительные значения порождают дубли и ошибочные связи между таблицами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Страдают поиск, аналитика и вся дальнейшая работа с проектом; потери от задержек в 4 млн ₽ не учтены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Hack 2026 · Project Launch Copilot for MWS Tables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 и критерии успеха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именно мы делаем и по чему будем измерять результат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074920" cy="4480560"/>
          </a:xfrm>
          <a:prstGeom prst="roundRect">
            <a:avLst>
              <a:gd name="adj" fmla="val 183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0078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48256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Превратить пользовательский импорт в рабочее пространство.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85292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требования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200400"/>
            <a:ext cx="45262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Widget Script внутри MWS Tables, без жёсткой привязки к ID таблиц и полей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рекомендация объяснима: было → станет, причина, уверенность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и подтверждение до любых массовых изменений; исходные записи не удаляются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очистка, matching и создание задач работают без LLM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запуск идемпотентен: 0 дублей задач и связей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16168" y="1481328"/>
            <a:ext cx="5705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Целевые метрики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16168" y="1883664"/>
            <a:ext cx="5705856" cy="694944"/>
          </a:xfrm>
          <a:prstGeom prst="roundRect">
            <a:avLst>
              <a:gd name="adj" fmla="val 11842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35624" y="19568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70%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799832" y="1956816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заявок готовы к запуску после одного прохода без ручной правки ячеек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16168" y="2706624"/>
            <a:ext cx="5705856" cy="694944"/>
          </a:xfrm>
          <a:prstGeom prst="roundRect">
            <a:avLst>
              <a:gd name="adj" fmla="val 11842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35624" y="277977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 мин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799832" y="2779776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медианное время подготовки заявки вместо модельных 50 минут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16168" y="3529584"/>
            <a:ext cx="5705856" cy="694944"/>
          </a:xfrm>
          <a:prstGeom prst="roundRect">
            <a:avLst>
              <a:gd name="adj" fmla="val 11842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35624" y="360273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90%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7799832" y="3602736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предложений по дублям и сопоставлению справочников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16168" y="4352544"/>
            <a:ext cx="5705856" cy="694944"/>
          </a:xfrm>
          <a:prstGeom prst="roundRect">
            <a:avLst>
              <a:gd name="adj" fmla="val 11842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35624" y="442569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80%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7799832" y="4425696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— обнаружение заложенных дублей и ошибок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916168" y="5175504"/>
            <a:ext cx="5705856" cy="694944"/>
          </a:xfrm>
          <a:prstGeom prst="roundRect">
            <a:avLst>
              <a:gd name="adj" fmla="val 11842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35624" y="524865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/ 0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7799832" y="5248656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массовых изменений с preview / повторных связей и задач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Целевые пороги. Фактические значения будут измерены после реализации.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Выбранный подход: двухэтапная валидация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согласован с заказчиком 3 сентября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38728" cy="1975104"/>
          </a:xfrm>
          <a:prstGeom prst="roundRect">
            <a:avLst>
              <a:gd name="adj" fmla="val 416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73936"/>
            <a:ext cx="420624" cy="42062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922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источника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40864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Сразу после импорта: ошибки, подозрительные значения и возможные дубли внутри одного источника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554480"/>
            <a:ext cx="3538728" cy="1975104"/>
          </a:xfrm>
          <a:prstGeom prst="roundRect">
            <a:avLst>
              <a:gd name="adj" fmla="val 416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2856" y="1773936"/>
            <a:ext cx="420624" cy="42062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11496" y="17922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Объяснимые рекомендации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2340864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список: было → станет, причина и уровень уверенности. Неоднозначное остаётся человеку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83296" y="1554480"/>
            <a:ext cx="3538728" cy="1975104"/>
          </a:xfrm>
          <a:prstGeom prst="roundRect">
            <a:avLst>
              <a:gd name="adj" fmla="val 416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73936"/>
            <a:ext cx="420624" cy="42062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17922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и подтверждение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340864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принимает или отклоняет отдельные действия. Только после этого данные меняются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749040"/>
            <a:ext cx="3538728" cy="1975104"/>
          </a:xfrm>
          <a:prstGeom prst="roundRect">
            <a:avLst>
              <a:gd name="adj" fmla="val 416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968496"/>
            <a:ext cx="420624" cy="42062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98678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и справочники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535424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Создаются только подтверждённые связи; оператор донастраивает Magic Link между источниками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25112" y="3749040"/>
            <a:ext cx="3538728" cy="1975104"/>
          </a:xfrm>
          <a:prstGeom prst="roundRect">
            <a:avLst>
              <a:gd name="adj" fmla="val 416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62856" y="3968496"/>
            <a:ext cx="420624" cy="42062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62856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11496" y="398678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Межтабличная проверка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62856" y="4535424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валидация уже связанного набора: блокирующие ошибки возвращаются оператору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83296" y="3749040"/>
            <a:ext cx="3538728" cy="1975104"/>
          </a:xfrm>
          <a:prstGeom prst="roundRect">
            <a:avLst>
              <a:gd name="adj" fmla="val 4167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3968496"/>
            <a:ext cx="420624" cy="42062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2104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398678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Доверенное представление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535424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проекта, задачи, рекомендации исполнителей и итоговая сводка запуска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85216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остаётся в контуре на каждом неоднозначном решении — автоматизируется рутина, а не ответственность.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Hack 2026 · Project Launch Copilot for MWS Tables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решения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обработка выполняется внутри Widget Script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записей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справочников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984248" y="1517904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148840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21992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проверки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517904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730752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03904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matching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148072" y="1517904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12664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85816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рекомендаций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729984" y="1517904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94576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7C4DFF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67728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пользователя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1517904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476488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изменений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связей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893808" y="1517904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058400" y="1517904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31552" y="1517904"/>
            <a:ext cx="1271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05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отчёт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26151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Фиолетовый блок — обязательное подтверждение человеком: до него данные не меняются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3538728" cy="2889504"/>
          </a:xfrm>
          <a:prstGeom prst="roundRect">
            <a:avLst>
              <a:gd name="adj" fmla="val 2848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320040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Детерминированное ядро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3547872"/>
            <a:ext cx="3063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email, телефонов, дат, регистра, «е/ё», городов, компаний и ФИО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Каскадный matching: точные ключи → сравнение по нескольким полям → неоднозначное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Шаблоны задач хранятся в таблице, а не в коде виджета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25112" y="3017520"/>
            <a:ext cx="3538728" cy="2889504"/>
          </a:xfrm>
          <a:prstGeom prst="roundRect">
            <a:avLst>
              <a:gd name="adj" fmla="val 2848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62856" y="320040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AI-слой (опционально)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547872"/>
            <a:ext cx="3063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 реализации: классификация заявки и LLM-проверка неоднозначных соответствий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резерве: поиск аномалий и оптимизация распределения задач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вызывается только в спорных случаях — базовый сценарий работает без него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83296" y="3017520"/>
            <a:ext cx="3538728" cy="2889504"/>
          </a:xfrm>
          <a:prstGeom prst="roundRect">
            <a:avLst>
              <a:gd name="adj" fmla="val 2848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20040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3547872"/>
            <a:ext cx="3063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Исходные записи не удаляются; повторный запуск не создаёт дубли задач и связей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Endpoint, модель и токен — в конфигурации, секретов в коде нет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уходят наружу только после явного действия пользователя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Hack 2026 · Project Launch Copilot for MWS Tables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Выполненные этапы и первые результаты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Продуктовый и исследовательский контур закрыт, реализация виджета стартует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63040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1847088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Зафиксированы baseline требований и постановка задачи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459736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459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40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Описаны пользователь, проблема, целевой сценарий и продуктовые метрики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026664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3026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98094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Двухэтапный сценарий проверки согласован с заказчиком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593592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54787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Разобраны смежные продукты и подходы к похожим функциям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14800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Построена сценарная модель unit-экономики в Excel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727448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4727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681728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Профилирована dev-выборка, изучены представления, таблицы и связи MWS Tables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294376"/>
            <a:ext cx="256032" cy="256032"/>
          </a:xfrm>
          <a:prstGeom prst="ellipse">
            <a:avLst/>
          </a:prstGeom>
          <a:solidFill>
            <a:srgbClr val="2ED9A8">
              <a:alpha val="22000"/>
            </a:srgbClr>
          </a:solidFill>
          <a:ln w="9525">
            <a:solidFill>
              <a:srgbClr val="2ED9A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52943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2486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Начата проработка алгоритмов и guardrails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227064" y="14630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результаты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227064" y="1847088"/>
            <a:ext cx="5394960" cy="1938528"/>
          </a:xfrm>
          <a:prstGeom prst="roundRect">
            <a:avLst>
              <a:gd name="adj" fmla="val 4245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64808" y="2048256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dev-выборки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487168"/>
            <a:ext cx="163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2743200"/>
            <a:ext cx="1639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записей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104632" y="2487168"/>
            <a:ext cx="163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4632" y="2743200"/>
            <a:ext cx="1639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столбца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744456" y="2487168"/>
            <a:ext cx="163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6 800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9744456" y="2743200"/>
            <a:ext cx="1639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заявок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464808" y="3090672"/>
            <a:ext cx="163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1 400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6464808" y="3346704"/>
            <a:ext cx="1639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компаний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04632" y="3090672"/>
            <a:ext cx="163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8104632" y="3346704"/>
            <a:ext cx="1639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сотрудников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744456" y="3090672"/>
            <a:ext cx="163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1 560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9744456" y="3346704"/>
            <a:ext cx="1639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и шаблонов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7064" y="3968496"/>
            <a:ext cx="5394960" cy="1956816"/>
          </a:xfrm>
          <a:prstGeom prst="roundRect">
            <a:avLst>
              <a:gd name="adj" fmla="val 420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64808" y="4169664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модели экономики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1713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сценария выручки и затрат, трудозатраты, BYOK, возврат затрат на запуск и граничные условия — с явными допущениями вместо внутренних данных MWS.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Hack 2026 · Project Launch Copilot for MWS Tables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Unit-экономика и упаковка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сценарная гипотеза, не прогноз и не утверждённая цена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38728" cy="2743200"/>
          </a:xfrm>
          <a:prstGeom prst="roundRect">
            <a:avLst>
              <a:gd name="adj" fmla="val 3000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026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Единица оплаты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21408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Успешно завершённая и принятая пользователем подготовка уникальной версии заявки — не запуск виджета, не токен и не задача.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Preview, retry и повтор того же результата не создают нового списания.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517904"/>
            <a:ext cx="3538728" cy="2743200"/>
          </a:xfrm>
          <a:prstGeom prst="roundRect">
            <a:avLst>
              <a:gd name="adj" fmla="val 3000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1737360"/>
            <a:ext cx="3026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упаковки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121408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Платный модуль на команду с общим пулом подготовок и прозрачной доплатой за превышение — вместо новых базовых тарифов.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320040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Ориентиры рынка: Airtable AI (пул кредитов), Asana AI Studio (расширение поверх продукта).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3296" y="1517904"/>
            <a:ext cx="3538728" cy="2743200"/>
          </a:xfrm>
          <a:prstGeom prst="roundRect">
            <a:avLst>
              <a:gd name="adj" fmla="val 3000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737360"/>
            <a:ext cx="3026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неопределённость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2121408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стоимость токенов, а платёжеспособный спрос, поддержка и достаточное число покупателей.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0040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за ~3 000 ₽/мес. — это +156% к наблюдаемому пакету на 4 места, то есть отдельная покупка.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443984"/>
            <a:ext cx="11055096" cy="1481328"/>
          </a:xfrm>
          <a:prstGeom prst="roundRect">
            <a:avLst>
              <a:gd name="adj" fmla="val 5556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608576"/>
            <a:ext cx="10506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 для решения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937760"/>
            <a:ext cx="1050645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Продаём сквозную подготовку заявки с контролем изменений, а не «доступ к LLM».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Дорогая обработка неоднозначных случаев включается отдельно, по явному действию пользователя — это же требование заложено в архитектуру решения.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Внутренних коммерческих данных MWS у команды нет: цифры выше — сценарии из открытых источников и наблюдаемого тарифа.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Hack 2026 · Project Launch Copilot for MWS Tables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риски и план до финальной защиты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сдача — 7 сентября 2026, 10:00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63040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ограничения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1865376"/>
            <a:ext cx="5074920" cy="950976"/>
          </a:xfrm>
          <a:prstGeom prst="roundRect">
            <a:avLst>
              <a:gd name="adj" fmla="val 8654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933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97510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API Widget Script может отличаться от публичной документации AITable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3774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Ранняя проверка возможностей в предоставленном пространстве; отказ от механик, которых там нет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907792"/>
            <a:ext cx="5074920" cy="950976"/>
          </a:xfrm>
          <a:prstGeom prst="roundRect">
            <a:avLst>
              <a:gd name="adj" fmla="val 8654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3035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0175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Кода виджета пока нет — весь объём реализации приходится на 3 дня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41985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Жёсткий приоритет: сначала сквозной базовый сценарий без LLM, AI-функции сверху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0208"/>
            <a:ext cx="5074920" cy="950976"/>
          </a:xfrm>
          <a:prstGeom prst="roundRect">
            <a:avLst>
              <a:gd name="adj" fmla="val 8654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407822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05993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Эталонной разметки нет; настроенные на dev-выборке алгоритмы нельзя на ней же и оценивать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46227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протокол оценки и отложенная часть выборки под проверку качества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5074920" cy="950976"/>
          </a:xfrm>
          <a:prstGeom prst="roundRect">
            <a:avLst>
              <a:gd name="adj" fmla="val 8654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51206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10235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связанных таблиц и UX preview не зафиксированы с заказчиком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550468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9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Конфигурируемый выбор таблиц и полей без привязки к ID снижает цену изменения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27064" y="14630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до 7 сентября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27064" y="1865376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19933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сен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15784" y="19751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схема таблиц; нормализация, поиск дублей, matching и preview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27064" y="2907792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30358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сен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15784" y="30175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Связи, задачи из шаблонов, рекомендации исполнителей; идемпотентный повторный запуск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27064" y="3950208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407822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 сен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15784" y="405993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 заявок и LLM-проверка неоднозначных соответствий; пороги и guardrails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27064" y="4992624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2C2159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6520" y="5120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сен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5102352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Проверки на dev-выборке, инструкция по установке, описание алгоритмов и демонстрация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 по объёму: поиск аномалий и оптимизация распределения задач добавляются только при готовом базовом сценарии.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и зоны ответственности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участники активно вовлечены и участвуют в создании решения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38728" cy="4407408"/>
          </a:xfrm>
          <a:prstGeom prst="roundRect">
            <a:avLst>
              <a:gd name="adj" fmla="val 232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73936"/>
            <a:ext cx="713232" cy="713232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7393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ТМ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1810512"/>
            <a:ext cx="218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Тимофей Махель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64208" y="212140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7004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Зона ответственности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Продукт, метрики и экономика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918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Выполненные задачи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9584"/>
            <a:ext cx="302666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Продуктовые материалы и целевой сценарий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успеха и правила их расчёта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Unit-экономика функции и модель в Excel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моделей конкурентов, анализ данных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5175504"/>
            <a:ext cx="3026664" cy="548640"/>
          </a:xfrm>
          <a:prstGeom prst="roundRect">
            <a:avLst>
              <a:gd name="adj" fmla="val 13333"/>
            </a:avLst>
          </a:prstGeom>
          <a:solidFill>
            <a:srgbClr val="2A4A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50976" y="5175504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Сейчас: Формирование решения и участие в его создании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25112" y="1517904"/>
            <a:ext cx="3538728" cy="4407408"/>
          </a:xfrm>
          <a:prstGeom prst="roundRect">
            <a:avLst>
              <a:gd name="adj" fmla="val 232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81144" y="1773936"/>
            <a:ext cx="713232" cy="713232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1144" y="177393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22392" y="1810512"/>
            <a:ext cx="218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Алина Крылова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22392" y="212140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81144" y="267004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Зона ответственности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81144" y="290779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и функциональность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32918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Выполненные задачи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29584"/>
            <a:ext cx="302666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проекта и требований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JTBD-матрица пользователей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Проработка состава функций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Ревью и дополнение продуктовых материалов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81144" y="5175504"/>
            <a:ext cx="3026664" cy="548640"/>
          </a:xfrm>
          <a:prstGeom prst="roundRect">
            <a:avLst>
              <a:gd name="adj" fmla="val 13333"/>
            </a:avLst>
          </a:prstGeom>
          <a:solidFill>
            <a:srgbClr val="2A4A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5175504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Сейчас: Формирование и создание решения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83296" y="1517904"/>
            <a:ext cx="3538728" cy="4407408"/>
          </a:xfrm>
          <a:prstGeom prst="roundRect">
            <a:avLst>
              <a:gd name="adj" fmla="val 2326"/>
            </a:avLst>
          </a:prstGeom>
          <a:solidFill>
            <a:srgbClr val="231A47"/>
          </a:solidFill>
          <a:ln w="9525">
            <a:solidFill>
              <a:srgbClr val="372B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9328" y="1773936"/>
            <a:ext cx="713232" cy="713232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39328" y="177393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ГП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180576" y="1810512"/>
            <a:ext cx="218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Глеб Панин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80576" y="212140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6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67004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Зона ответственности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290779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Конкуренты и проработка функций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39328" y="32918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7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Выполненные задачи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39328" y="3529584"/>
            <a:ext cx="302666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конкурентных решений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Проработка функций продукта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4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Ревью решения и сценария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339328" y="5175504"/>
            <a:ext cx="3026664" cy="548640"/>
          </a:xfrm>
          <a:prstGeom prst="roundRect">
            <a:avLst>
              <a:gd name="adj" fmla="val 13333"/>
            </a:avLst>
          </a:prstGeom>
          <a:solidFill>
            <a:srgbClr val="2A4A4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67344" y="5175504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E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Сейчас: Формирование и создание решения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355080"/>
            <a:ext cx="10323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Hack 2026 · Project Launch Copilot for MWS Tables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5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Project Launch Copilot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Launch Copilot — промежуточный статус</dc:title>
  <dc:subject>Промежуточная презентация проекта</dc:subject>
  <dc:creator>Project Launch Copilot team</dc:creator>
  <cp:lastModifiedBy>Project Launch Copilot team</cp:lastModifiedBy>
  <cp:revision>1</cp:revision>
  <dcterms:created xsi:type="dcterms:W3CDTF">2026-09-04T05:42:18Z</dcterms:created>
  <dcterms:modified xsi:type="dcterms:W3CDTF">2026-09-04T05:42:18Z</dcterms:modified>
</cp:coreProperties>
</file>